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</p:sldIdLst>
  <p:notesMasterIdLst>
    <p:notesMasterId r:id="rId2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notesMaster" Target="notesMasters/notesMaster1.xml"/><Relationship Id="rId222" Type="http://schemas.openxmlformats.org/officeDocument/2006/relationships/presProps" Target="presProps.xml"/><Relationship Id="rId223" Type="http://schemas.openxmlformats.org/officeDocument/2006/relationships/viewProps" Target="viewProps.xml"/><Relationship Id="rId224" Type="http://schemas.openxmlformats.org/officeDocument/2006/relationships/theme" Target="theme/theme1.xml"/><Relationship Id="rId2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304038"/>
          </a:xfrm>
          <a:prstGeom prst="rect">
            <a:avLst/>
          </a:prstGeom>
          <a:solidFill>
            <a:srgbClr val="FFD3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18872" cy="304038"/>
          </a:xfrm>
          <a:prstGeom prst="rect">
            <a:avLst/>
          </a:prstGeom>
          <a:solidFill>
            <a:srgbClr val="FDD0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18872" cy="304038"/>
          </a:xfrm>
          <a:prstGeom prst="rect">
            <a:avLst/>
          </a:prstGeom>
          <a:solidFill>
            <a:srgbClr val="FACC6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18872" cy="304038"/>
          </a:xfrm>
          <a:prstGeom prst="rect">
            <a:avLst/>
          </a:prstGeom>
          <a:solidFill>
            <a:srgbClr val="F8C9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18872" cy="304038"/>
          </a:xfrm>
          <a:prstGeom prst="rect">
            <a:avLst/>
          </a:prstGeom>
          <a:solidFill>
            <a:srgbClr val="F5C6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18872" cy="304038"/>
          </a:xfrm>
          <a:prstGeom prst="rect">
            <a:avLst/>
          </a:prstGeom>
          <a:solidFill>
            <a:srgbClr val="F3C359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18872" cy="304038"/>
          </a:xfrm>
          <a:prstGeom prst="rect">
            <a:avLst/>
          </a:prstGeom>
          <a:solidFill>
            <a:srgbClr val="F1BF5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18872" cy="304038"/>
          </a:xfrm>
          <a:prstGeom prst="rect">
            <a:avLst/>
          </a:prstGeom>
          <a:solidFill>
            <a:srgbClr val="EEBC52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18872" cy="304038"/>
          </a:xfrm>
          <a:prstGeom prst="rect">
            <a:avLst/>
          </a:prstGeom>
          <a:solidFill>
            <a:srgbClr val="ECB94F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18872" cy="304038"/>
          </a:xfrm>
          <a:prstGeom prst="rect">
            <a:avLst/>
          </a:prstGeom>
          <a:solidFill>
            <a:srgbClr val="E9B64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18872" cy="304038"/>
          </a:xfrm>
          <a:prstGeom prst="rect">
            <a:avLst/>
          </a:prstGeom>
          <a:solidFill>
            <a:srgbClr val="E7B249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18872" cy="304038"/>
          </a:xfrm>
          <a:prstGeom prst="rect">
            <a:avLst/>
          </a:prstGeom>
          <a:solidFill>
            <a:srgbClr val="E5AF4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18872" cy="304038"/>
          </a:xfrm>
          <a:prstGeom prst="rect">
            <a:avLst/>
          </a:prstGeom>
          <a:solidFill>
            <a:srgbClr val="E2AC42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18872" cy="304038"/>
          </a:xfrm>
          <a:prstGeom prst="rect">
            <a:avLst/>
          </a:prstGeom>
          <a:solidFill>
            <a:srgbClr val="E0A93F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18872" cy="304038"/>
          </a:xfrm>
          <a:prstGeom prst="rect">
            <a:avLst/>
          </a:prstGeom>
          <a:solidFill>
            <a:srgbClr val="DEA53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18872" cy="304038"/>
          </a:xfrm>
          <a:prstGeom prst="rect">
            <a:avLst/>
          </a:prstGeom>
          <a:solidFill>
            <a:srgbClr val="DBA239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18872" cy="304038"/>
          </a:xfrm>
          <a:prstGeom prst="rect">
            <a:avLst/>
          </a:prstGeom>
          <a:solidFill>
            <a:srgbClr val="D99F36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18872" cy="304038"/>
          </a:xfrm>
          <a:prstGeom prst="rect">
            <a:avLst/>
          </a:prstGeom>
          <a:solidFill>
            <a:srgbClr val="D69C32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18872" cy="304038"/>
          </a:xfrm>
          <a:prstGeom prst="rect">
            <a:avLst/>
          </a:prstGeom>
          <a:solidFill>
            <a:srgbClr val="D4982F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18872" cy="304038"/>
          </a:xfrm>
          <a:prstGeom prst="rect">
            <a:avLst/>
          </a:prstGeom>
          <a:solidFill>
            <a:srgbClr val="D2952C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18872" cy="304038"/>
          </a:xfrm>
          <a:prstGeom prst="rect">
            <a:avLst/>
          </a:prstGeom>
          <a:solidFill>
            <a:srgbClr val="CF9229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18872" cy="304038"/>
          </a:xfrm>
          <a:prstGeom prst="rect">
            <a:avLst/>
          </a:prstGeom>
          <a:solidFill>
            <a:srgbClr val="CD8F25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18872" cy="304038"/>
          </a:xfrm>
          <a:prstGeom prst="rect">
            <a:avLst/>
          </a:prstGeom>
          <a:solidFill>
            <a:srgbClr val="CA8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18872" cy="304038"/>
          </a:xfrm>
          <a:prstGeom prst="rect">
            <a:avLst/>
          </a:prstGeom>
          <a:solidFill>
            <a:srgbClr val="C8881F"/>
          </a:solidFill>
          <a:ln/>
        </p:spPr>
      </p:sp>
      <p:sp>
        <p:nvSpPr>
          <p:cNvPr id="26" name="Shape 24"/>
          <p:cNvSpPr/>
          <p:nvPr/>
        </p:nvSpPr>
        <p:spPr>
          <a:xfrm>
            <a:off x="4270248" y="3154680"/>
            <a:ext cx="3657600" cy="27432"/>
          </a:xfrm>
          <a:prstGeom prst="rect">
            <a:avLst/>
          </a:prstGeom>
          <a:solidFill>
            <a:srgbClr val="FFD369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0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304038"/>
          </a:xfrm>
          <a:prstGeom prst="rect">
            <a:avLst/>
          </a:prstGeom>
          <a:solidFill>
            <a:srgbClr val="FFD3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18872" cy="304038"/>
          </a:xfrm>
          <a:prstGeom prst="rect">
            <a:avLst/>
          </a:prstGeom>
          <a:solidFill>
            <a:srgbClr val="FDD0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18872" cy="304038"/>
          </a:xfrm>
          <a:prstGeom prst="rect">
            <a:avLst/>
          </a:prstGeom>
          <a:solidFill>
            <a:srgbClr val="FACC6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18872" cy="304038"/>
          </a:xfrm>
          <a:prstGeom prst="rect">
            <a:avLst/>
          </a:prstGeom>
          <a:solidFill>
            <a:srgbClr val="F8C9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18872" cy="304038"/>
          </a:xfrm>
          <a:prstGeom prst="rect">
            <a:avLst/>
          </a:prstGeom>
          <a:solidFill>
            <a:srgbClr val="F5C6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18872" cy="304038"/>
          </a:xfrm>
          <a:prstGeom prst="rect">
            <a:avLst/>
          </a:prstGeom>
          <a:solidFill>
            <a:srgbClr val="F3C359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18872" cy="304038"/>
          </a:xfrm>
          <a:prstGeom prst="rect">
            <a:avLst/>
          </a:prstGeom>
          <a:solidFill>
            <a:srgbClr val="F1BF5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18872" cy="304038"/>
          </a:xfrm>
          <a:prstGeom prst="rect">
            <a:avLst/>
          </a:prstGeom>
          <a:solidFill>
            <a:srgbClr val="EEBC52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18872" cy="304038"/>
          </a:xfrm>
          <a:prstGeom prst="rect">
            <a:avLst/>
          </a:prstGeom>
          <a:solidFill>
            <a:srgbClr val="ECB94F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18872" cy="304038"/>
          </a:xfrm>
          <a:prstGeom prst="rect">
            <a:avLst/>
          </a:prstGeom>
          <a:solidFill>
            <a:srgbClr val="E9B64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18872" cy="304038"/>
          </a:xfrm>
          <a:prstGeom prst="rect">
            <a:avLst/>
          </a:prstGeom>
          <a:solidFill>
            <a:srgbClr val="E7B249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18872" cy="304038"/>
          </a:xfrm>
          <a:prstGeom prst="rect">
            <a:avLst/>
          </a:prstGeom>
          <a:solidFill>
            <a:srgbClr val="E5AF4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18872" cy="304038"/>
          </a:xfrm>
          <a:prstGeom prst="rect">
            <a:avLst/>
          </a:prstGeom>
          <a:solidFill>
            <a:srgbClr val="E2AC42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18872" cy="304038"/>
          </a:xfrm>
          <a:prstGeom prst="rect">
            <a:avLst/>
          </a:prstGeom>
          <a:solidFill>
            <a:srgbClr val="E0A93F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18872" cy="304038"/>
          </a:xfrm>
          <a:prstGeom prst="rect">
            <a:avLst/>
          </a:prstGeom>
          <a:solidFill>
            <a:srgbClr val="DEA53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18872" cy="304038"/>
          </a:xfrm>
          <a:prstGeom prst="rect">
            <a:avLst/>
          </a:prstGeom>
          <a:solidFill>
            <a:srgbClr val="DBA239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18872" cy="304038"/>
          </a:xfrm>
          <a:prstGeom prst="rect">
            <a:avLst/>
          </a:prstGeom>
          <a:solidFill>
            <a:srgbClr val="D99F36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18872" cy="304038"/>
          </a:xfrm>
          <a:prstGeom prst="rect">
            <a:avLst/>
          </a:prstGeom>
          <a:solidFill>
            <a:srgbClr val="D69C32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18872" cy="304038"/>
          </a:xfrm>
          <a:prstGeom prst="rect">
            <a:avLst/>
          </a:prstGeom>
          <a:solidFill>
            <a:srgbClr val="D4982F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18872" cy="304038"/>
          </a:xfrm>
          <a:prstGeom prst="rect">
            <a:avLst/>
          </a:prstGeom>
          <a:solidFill>
            <a:srgbClr val="D2952C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18872" cy="304038"/>
          </a:xfrm>
          <a:prstGeom prst="rect">
            <a:avLst/>
          </a:prstGeom>
          <a:solidFill>
            <a:srgbClr val="CF9229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18872" cy="304038"/>
          </a:xfrm>
          <a:prstGeom prst="rect">
            <a:avLst/>
          </a:prstGeom>
          <a:solidFill>
            <a:srgbClr val="CD8F25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18872" cy="304038"/>
          </a:xfrm>
          <a:prstGeom prst="rect">
            <a:avLst/>
          </a:prstGeom>
          <a:solidFill>
            <a:srgbClr val="CA8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18872" cy="304038"/>
          </a:xfrm>
          <a:prstGeom prst="rect">
            <a:avLst/>
          </a:prstGeom>
          <a:solidFill>
            <a:srgbClr val="C8881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304038"/>
          </a:xfrm>
          <a:prstGeom prst="rect">
            <a:avLst/>
          </a:prstGeom>
          <a:solidFill>
            <a:srgbClr val="FFD3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18872" cy="304038"/>
          </a:xfrm>
          <a:prstGeom prst="rect">
            <a:avLst/>
          </a:prstGeom>
          <a:solidFill>
            <a:srgbClr val="FDD0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18872" cy="304038"/>
          </a:xfrm>
          <a:prstGeom prst="rect">
            <a:avLst/>
          </a:prstGeom>
          <a:solidFill>
            <a:srgbClr val="FACC6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18872" cy="304038"/>
          </a:xfrm>
          <a:prstGeom prst="rect">
            <a:avLst/>
          </a:prstGeom>
          <a:solidFill>
            <a:srgbClr val="F8C9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18872" cy="304038"/>
          </a:xfrm>
          <a:prstGeom prst="rect">
            <a:avLst/>
          </a:prstGeom>
          <a:solidFill>
            <a:srgbClr val="F5C6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18872" cy="304038"/>
          </a:xfrm>
          <a:prstGeom prst="rect">
            <a:avLst/>
          </a:prstGeom>
          <a:solidFill>
            <a:srgbClr val="F3C359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18872" cy="304038"/>
          </a:xfrm>
          <a:prstGeom prst="rect">
            <a:avLst/>
          </a:prstGeom>
          <a:solidFill>
            <a:srgbClr val="F1BF5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18872" cy="304038"/>
          </a:xfrm>
          <a:prstGeom prst="rect">
            <a:avLst/>
          </a:prstGeom>
          <a:solidFill>
            <a:srgbClr val="EEBC52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18872" cy="304038"/>
          </a:xfrm>
          <a:prstGeom prst="rect">
            <a:avLst/>
          </a:prstGeom>
          <a:solidFill>
            <a:srgbClr val="ECB94F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18872" cy="304038"/>
          </a:xfrm>
          <a:prstGeom prst="rect">
            <a:avLst/>
          </a:prstGeom>
          <a:solidFill>
            <a:srgbClr val="E9B64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18872" cy="304038"/>
          </a:xfrm>
          <a:prstGeom prst="rect">
            <a:avLst/>
          </a:prstGeom>
          <a:solidFill>
            <a:srgbClr val="E7B249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18872" cy="304038"/>
          </a:xfrm>
          <a:prstGeom prst="rect">
            <a:avLst/>
          </a:prstGeom>
          <a:solidFill>
            <a:srgbClr val="E5AF4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18872" cy="304038"/>
          </a:xfrm>
          <a:prstGeom prst="rect">
            <a:avLst/>
          </a:prstGeom>
          <a:solidFill>
            <a:srgbClr val="E2AC42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18872" cy="304038"/>
          </a:xfrm>
          <a:prstGeom prst="rect">
            <a:avLst/>
          </a:prstGeom>
          <a:solidFill>
            <a:srgbClr val="E0A93F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18872" cy="304038"/>
          </a:xfrm>
          <a:prstGeom prst="rect">
            <a:avLst/>
          </a:prstGeom>
          <a:solidFill>
            <a:srgbClr val="DEA53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18872" cy="304038"/>
          </a:xfrm>
          <a:prstGeom prst="rect">
            <a:avLst/>
          </a:prstGeom>
          <a:solidFill>
            <a:srgbClr val="DBA239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18872" cy="304038"/>
          </a:xfrm>
          <a:prstGeom prst="rect">
            <a:avLst/>
          </a:prstGeom>
          <a:solidFill>
            <a:srgbClr val="D99F36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18872" cy="304038"/>
          </a:xfrm>
          <a:prstGeom prst="rect">
            <a:avLst/>
          </a:prstGeom>
          <a:solidFill>
            <a:srgbClr val="D69C32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18872" cy="304038"/>
          </a:xfrm>
          <a:prstGeom prst="rect">
            <a:avLst/>
          </a:prstGeom>
          <a:solidFill>
            <a:srgbClr val="D4982F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18872" cy="304038"/>
          </a:xfrm>
          <a:prstGeom prst="rect">
            <a:avLst/>
          </a:prstGeom>
          <a:solidFill>
            <a:srgbClr val="D2952C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18872" cy="304038"/>
          </a:xfrm>
          <a:prstGeom prst="rect">
            <a:avLst/>
          </a:prstGeom>
          <a:solidFill>
            <a:srgbClr val="CF9229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18872" cy="304038"/>
          </a:xfrm>
          <a:prstGeom prst="rect">
            <a:avLst/>
          </a:prstGeom>
          <a:solidFill>
            <a:srgbClr val="CD8F25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18872" cy="304038"/>
          </a:xfrm>
          <a:prstGeom prst="rect">
            <a:avLst/>
          </a:prstGeom>
          <a:solidFill>
            <a:srgbClr val="CA8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18872" cy="304038"/>
          </a:xfrm>
          <a:prstGeom prst="rect">
            <a:avLst/>
          </a:prstGeom>
          <a:solidFill>
            <a:srgbClr val="C8881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1234440"/>
            <a:ext cx="10911535" cy="18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ElconLab · Nir Geier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Study Notes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Study Deck - 16 Topics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study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A7B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→ Wrapping Up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Introduction to Claude Code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is Anthropic's terminal-first agentic coding tool that turns Claude into a hands-on collaborator inside your real codebase.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Code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command-line tool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that runs an agentic coding loop in your terminal, operating directly on your project files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Reads, writes, and edits files, runs shell commands, and uses git - taking real actions rather than just suggesting text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models (Opus, Sonnet, Haiku families), it plans multi-step work and iterates until a task is done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you where you already work: the terminal, your existing repo, your existing toolchain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embeddable in IDEs (VS Code, JetBrains) and scriptable via the Agent SDK, but the CLI is the core experience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who live in the terminal and want an agent that can act, not just chat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handling real tasks: feature work, refactors, bug fixes, test writing, codebase exploration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that want shared, version-controlled project conventions and reproducible agent behavior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automating coding workflows in CI or scripts via the headless / SDK modes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 with code review: you stay the reviewer and approver of what the agent does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terminal-first agentic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"Agentic" means Claude decides which tools to call (read, edit, bash, search) and chains them toward a goal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explores the codebase on demand instead of needing you to paste files into a chat window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meaningful action (editing files, running commands) is gated by a permission prompt unless pre-approved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is observable: you see the plan, the tool calls, and the results as they happen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interrupt, redirect, or correct course at any point with Esc and follow-up messages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and first run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Node.js; install the CLI globally, then launch it from inside a project directory: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911535" cy="941832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-g @anthropic-ai/claude-code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my-project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27832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first run you authenticate (Claude subscription or an Anthropic API key)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best when run at the root of a git repository so it can see structure and use version control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/init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once to have Claude generate a starter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describing your project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/help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list commands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-p "..."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one-shot headless prompts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- project memory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markdown file Claude auto-loads as context: conventions, commands, architecture notes, and do/don'ts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in the repo root (shared, committed) and can be nested in subdirectories for scoped guidance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user-level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applies your personal preferences across all projects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concise and high-signal - it is prepended to context, so bloat costs tokens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- project memory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36829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Project: payments-api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Commands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Test: `npm test`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Lint: `npm run lint` (run before committing)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Conventions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TypeScript strict mode; no `any`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Prefer small, pure functions; colocate tests as `*.test.ts`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settings.json and permissions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configures behavior: permission rules, environment variables, hooks, model, and more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Scopes: user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project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committed), and local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.claude/settings.local.json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gitignored)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rules allow or deny specific tools and commands so routine actions skip the prompt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11535" cy="165506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"permissions":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"allow": ["Bash(npm test:*)", "Read", "Edit"],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"deny": ["Bash(rm -rf:*)", "Read(./.env)"]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settings.json and permissions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modes shape the session: default (prompt),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acceptEdits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(read-only planning), and a full-auto bypass mode for sandboxes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Claude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(Model Context Protocol): connect external servers (databases, issue trackers, browsers, internal APIs) as tools and data sources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Subagents: specialized agent configs with their own prompt and tool scope, used to delegate focused subtasks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packaged instructions and assets Claude loads on demand when a task matches their description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Hooks: shell commands the harness runs automatically on events (e.g., format code after every edit)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bundle skills, subagents, hooks, MCP servers, and slash commands for one-step sharing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Claude Code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36829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"PostToolUse":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{ "matcher": "Edit", "hooks":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{ "type": "command", "command": "prettier --write \"$CLAUDE_FILE_PATHS\""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]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and staying in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lets Claude investigate and draft a step-by-step approach without touching files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review and approve the plan before any edits run - good for large or risky changes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with git: Claude can stage, diff, and commit, and you review changes like any teammate's PR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managed with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/clear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reset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/compact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summarize long sessions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differs from chat assistants and IDE autocomplete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chat assistants (web/app): Claude Code acts on real files and runs commands instead of returning text you copy-paste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IDE autocomplete (e.g., Copilot-style): autocomplete predicts the next lines as you type; Claude Code owns whole multi-file, multi-step tasks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agency over tools and the filesystem, with permissions and git as the safety and review layer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carries durable project context via CLAUDE.md and config rather than starting cold each time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scriptable and composable - usable in pipelines and other programs through the Agent SDK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is an agentic, terminal-first coding tool that takes real actions in your repo, gated by permissions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plus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 Claude durable project context and controlled, reproducible behavior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MCP, skills, subagents, hooks, and plugins extend it; plan mode keeps you in control of big changes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differs from chat (it acts, not just suggests) and from autocomplete (whole tasks, not next-line predictions)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with npm, run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git repo,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/init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CLAUDE.md, and review its work like a teammate's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Claude Code Under the Hood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Anthropic's Claude Code CLI turns a chat model into an autonomous coding agent: the agent loop, its tools, how it reads your repo, the harness around the model, and the model itself.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Code Actually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terminal-based coding agent: you type a request, it edits files, runs commands, and reports back.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CLI program) wrapped around a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 Claude model) plus a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model can call.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does not touch your machine directly - every action goes through tools the harness exposes and gates.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agentic: given one prompt it can take many steps on its own until the task is done.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available as the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SDK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(TypeScript/Python) so you can embed the same loop in your own programs.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cycle is: read context → plan → call a tool → observe the result → iterate.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turn, the model sees the conversation so far plus tool outputs, then decides the next single action.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keeps looping - edit, run tests, read the error, fix, re-run - until it judges the task complete or needs you.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"Observe" matters: tool results (file contents, command stdout/exit codes) feed back into the next decision.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ends when the model produces a final text answer with no further tool calls, or hits a permission/stop boundary.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read a file (or image/PDF/notebook) by absolute path, with line numbers.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/ Write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exact string replacement in a file, or create/overwrite a whole file.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run shell commands; the working directory persists, shell env does not.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fast content search (ripgrep-backed) by regex across the repo.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find files by path pattern (e.g.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**/*.ts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/ subagents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spin off a focused sub-agent for a scoped chunk of work.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web search/fetch, TodoWrite for task tracking, and any tools added via MCP.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Reads the Repo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pre-ingest the whole codebase; it explores on demand using Grep, Glob, and Read.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keeps the context window focused - it pulls in only the files relevant to the current task.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startup it loads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files (project root, parent dirs,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as persistent project memory.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where you record conventions, commands, and gotchas so you don't repeat them every session.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Reads the Repo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89280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CLAUDE.md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Commands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Build: `npm run build`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Test a single file: `npm test -- path/to/file.test.ts`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Conventions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Use absolute imports from `@/`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Never edit files under `generated/`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Prompt &amp; Harness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built-in system prompt tells the model it is Claude Code, how to use tools, and the house style (concise, minimal, no needless preamble).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injects environment context: working directory, OS, git status, and your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also manages the context window - summarizing/compacting older turns when the conversation grows long.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you run your own shell commands at lifecycle points (e.g. before a tool runs, after the model stops).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Prompt &amp; Harness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36829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.claude/settings.json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"PostToolUse": [{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"matcher": "Edit|Write",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"hooks": [{ "type": "command", "command": "npm run lint --silent" }]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&amp; Plan Mode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potentially-destructive action (writes, arbitrary Bash) is gated by a permission check before it runs.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modes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default (prompt as needed), accept-edits, plan (read-only - investigate and propose, no changes), and bypass (skip prompts - use with care).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pre-approve or deny patterns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common safe commands stop prompting.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ideal for "look before you leap": the agent researches and writes a plan, then waits for your go-ahead.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&amp; Plan Mode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89280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.claude/settings.json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"permissions":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"allow": ["Bash(npm run test:*)", "Read(./src/**)"],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"deny": ["Bash(rm -rf:*)", "Read(./.env)"]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Claude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(Model Context Protocol)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connect external servers (databases, APIs, browsers) that expose extra tools and resources.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packaged instructions/scripts the agent loads on demand when a task matches their trigger.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named, scoped agents with their own prompt and tool subset, dispatched for sub-tasks to keep the main context clean.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bundles that ship slash commands, skills, hooks, and MCP servers together for easy install/sharing.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reusable prompt templates (built-in like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/init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/review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your own project commands).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Behind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runs on a Claude model (the Opus / Sonnet / Haiku family), chosen for strong tool-use and long-context reasoning.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decides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do; the harness decides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it's allowed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actually executes it.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context windows let it hold many files, tool outputs, and your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once.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switch models (e.g. a heavier model for hard reasoning, a lighter one for speed/cost) and the harness stays the same.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model+loop pattern powers the Agent SDK, so behavior is consistent between the CLI and embedded use.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= harness + model + gated tools running an iterative read→plan→act→observe loop.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 your repo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lazily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(Grep/Glob/Read) and remembers context via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comes from permissions and plan mode - the model proposes, the harness gates, you stay in control.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it with MCP, skills, subagents, hooks, and plugins instead of changing the core.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reasons and chooses actions; the harness enforces rules and runs them - keep that separation in mind.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CLAUDE.md &amp; Plan Mode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Claude Code remembers your project across sessions (CLAUDE.md) and how it investigates safely before touching code (Plan Mode).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CLAUDE.md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plain-markdown file Claude Code loads automatically into context at the start of a session.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as persistent "project memory" so you don't re-explain conventions every time.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alongside your code (typically the repo root) and is meant to be committed and shared with the team.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Treated as instructions/context, not executable config - keep it short and high-signal, since it consumes context budget.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add to it on the fly: prefix a message with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Claude offers to write that note into a CLAUDE.md file.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put in CLAUDE.md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test / lint commands the project actually uses (e.g.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pnpm test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lint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style and conventions: formatting, naming, preferred libraries, patterns to follow or avoid.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orientation: where key modules live, how the pieces fit together.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rules: branching, commit message format, "run tests before committing."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Gotchas and non-obvious constraints (flaky test, required env vars, things that look wrong but are intentional).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put in CLAUDE.md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08152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Project: Billing Service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Commands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Test: `pnpm test`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Lint/format: `pnpm lint &amp;&amp; pnpm format`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Conventions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TypeScript strict mode; no `any`.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Use the existing `Result&lt;T&gt;` type instead of throwing.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Notes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`legacy/` is frozen - do not refactor.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hierarchy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reads CLAUDE.md from multiple locations and merges them, more specific layered over more general.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managed system-level policy file, deployed by an admin to all users on a machine.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 your personal preferences that apply across every project.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repo root): shared, committed team memory for that codebase.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/ nested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subdirectory is pulled in when you work in that part of the tree.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files combine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applicable layers are loaded together; nothing fully "overrides" by replacing - they accumulate as context.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specific files (project, then subdirectory) sit closer to the work and naturally take precedence in practice.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memory for habits ("always explain before large edits"),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memory for team facts.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CLAUDE.local.md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 the old way to keep personal/project notes out of git; the recommended path now is the user-level file plus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.gitignore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project file lean - anything machine-specific or secret-adjacent belongs in user or untracked files.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 and keeping it maintainable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CLAUDE.md can pull in other files with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@path/to/file.md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you can split memory into focused pieces.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large repos: a root file that imports per-area docs instead of one giant file.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/init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new project to have Claude scan the codebase and draft a starter CLAUDE.md.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/memory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open and edit the active memory files directly.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it periodically - stale instructions actively mislead the model.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10911535" cy="46634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See @docs/architecture.md and @docs/testing.md for details.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Plan Mode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 where Claude investigates and proposes an approach but is blocked from editing files or running mutating commands.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Intended for read-only exploration first: read code, search, reason - then commit to a plan before any change lands.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it during a session by cycling permission modes (Shift+Tab); you can also start a session in plan mode.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one of several permission modes, alongside normal (prompt-on-action), accept-edits, and bypass-permissions.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the risk of Claude charging ahead and editing the wrong thing before you've agreed on direction.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Mode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and analyzes the relevant code without modifying anything.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presents a concrete plan: what it will change, where, and in what order.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review and approve, reject, or ask for revisions - execution only begins after approval.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approval, Claude typically exits plan mode and switches to making the edits.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ambiguous or high-blast-radius tasks (refactors, migrations, anything touching many files).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fits with permissions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modes govern how much Claude can do without asking; plan mode is the most restrictive useful one.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accept-edits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auto-approves file edits for fast iteration on trusted work.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bypass-permissions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skips prompts entirely - only for sandboxed/throwaway contexts you trust.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deny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complement modes for specific tools and commands.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fits with permissions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89280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"permissions":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"allow": ["Bash(git diff:*)", "Bash(pnpm test:*)"],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"deny": ["Bash(rm -rf:*)", "Read(./.env)"]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"defaultMode": "plan"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is persistent, committed project memory - put commands, conventions, architecture, and gotchas there, kept short.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layers (enterprise → user → project → subdirectory) merge, with more specific files effectively winning.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/init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bootstrap,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/memory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edit,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@imports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keep it modular,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capture notes mid-session.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keeps Claude read-only so it proposes a plan you approve before any edit happens.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one point on the permission-mode spectrum (plan → normal → accept-edits → bypass), backed by allow/deny rules in settings.json.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Permissions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Claude Code decides which tool actions run automatically, which need your approval, and which are blocked outright.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permissions exist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can read files, edit code, run shell commands, and call MCP tools - all of which can have real consequences.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permission system is the guardrail: it gates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(tool calls), not Claude's reasoning or text.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is to keep risky operations (deleting files, pushing code, running arbitrary commands) under human control by default.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and clearly-safe actions can be pre-approved so you are not interrupted constantly.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proposes a tool call; the permission layer decides allow / ask / deny before it ever executes.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rule behaviors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permission rule maps a tool action to one of three behaviors: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the action runs automatically with no prompt.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Claude pauses and requests your confirmation before running (the interactive default for most state-changing actions).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the action is blocked entirely and cannot be run, even if you would have approved it.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Precedence: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wins over ask, and ask wins over allow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the most restrictive matching rule applies.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rules are the right tool for hard guardrails (e.g. never read secrets, never run a destructive command).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sets the overall posture for a session, layered on top of your individual rules.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normal behavior: safe actions may be allowed, state-changing actions prompt with "ask".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acceptEdits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auto-accepts file edits (Edit/Write) so you are not prompted per change; other actions still follow their rules.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read-only research mode: Claude can explore and propose a plan but cannot edit files or run side-effecting commands.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bypassPermissions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skips all permission checks and runs everything without prompting; powerful and dangerous, use only in trusted/sandboxed contexts.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modes interactively (Shift+Tab cycles through them) or set a starting mode via config.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in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lets Claude read the codebase, search, and analyze without making changes.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you want a strategy or review first, then approve execution as a separate step.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presents a proposed plan and waits; you accept it to move into an editing-capable mode.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written and no side-effecting shell commands run while you are in plan mode.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default for unfamiliar codebases or high-stakes changes where you want to look before you leap.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rules live - settings.json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are configured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files, merged from several layers.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layers: enterprise-managed policy, user-level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project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and local project overrides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.claude/settings.local.json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settings.local.json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meant for personal, machine-specific rules and is usually git-ignored; project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shared with the team.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specific / more restrictive layers and rules take precedence; enterprise policy can enforce rules users cannot override.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permissions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block holds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arrays plus related options.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rules live - settings.json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403250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"permissions":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"allow":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"Read",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"Bash(npm run test:*)",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"Bash(git status)"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"ask":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"Bash(git push:*)"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"deny":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"Read(./.env)",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"Bash(rm -rf:*)"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Tool-scoped rules and matchers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 names a tool, optionally with a parameter pattern in parentheses: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Tool(specifier)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Bash(npm run test:*)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matches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run test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commands; 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:*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prefix wildcard for arguments.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tools can scope by path: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Edit(src/**)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Read(./secrets/**)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allow or deny based on location.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bare tool name like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WebFetch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matches all uses of that tool.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 follow 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mcp__&lt;server&gt;__&lt;tool&gt;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naming, so you can allow or deny specific MCP servers/tools.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carefully: overly broad allow rules (e.g. allowing all of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defeat the purpose of the guardrails.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Allowlists and reducing prompts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allowlist is just your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array - actions you have decided are safe to run unattended.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Approving an action interactively can offer to remember it, which appends a rule to your settings.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allowlist candidates: read-only inspection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status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diff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running tests, type-checks, linters.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destructive or networked actions (pushes, deploys,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rm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curl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arbitrary hosts) on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Curating a tight allowlist is the main way to cut prompt fatigue without lowering your safety posture.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Allowlists and reducing prompts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36829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"permissions":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"allow":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"Bash(git diff:*)",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"Bash(npm run lint)",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"Bash(npm run typecheck)"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defaults and the trust prompt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the box, Claude Code prompts for state-changing actions rather than running them silently.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time you open a new project (a new directory) Claude asks you to confirm you trust that folder before acting.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edits, shell commands, and network fetches are gated; pure reads inside the working directory are lighter-touch.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rules and managed enterprise settings let admins enforce non-negotiable boundaries across a team.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bypassPermissions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an explicit, deliberate choice - best confined to isolated sandboxes or CI, never casual use.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and the Agent SDK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 your own shell commands at lifecycle points and can act as a programmatic gate;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can inspect a pending tool call and approve or block it.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lets you enforce policy with custom logic beyond static allow/deny patterns.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also apply to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operate under the same rule set and modes as the main session.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SDK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exposes the same permission model programmatically, including a callback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canUseTool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to decide on tool calls in code.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makes the security model consistent whether you run Claude Code interactively or embed it in an automated pipeline.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and the Agent SDK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08152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"PreToolUse":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"matcher": "Bash",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"hooks":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{ "type": "command", "command": "/usr/local/bin/check-cmd.sh"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gate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actions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three behaviors - allow, ask, deny - where deny always wins.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 set the session posture: default, acceptEdits, plan (read-only), and the dangerous bypassPermissions.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rules in layered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settings.local.json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tool-scoped patterns like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Bash(...)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path matchers.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 a tight allowlist for safe, repetitive actions to reduce prompts without weakening safety.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programmatic control, 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hooks or the Agent SDK's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canUseTool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callback; the model is safe-by-default and asks before changing state.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Effort &amp; Context Windows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Claude Code spends two scarce budgets - the context window (what the model can "see") and thinking effort (how hard it reasons) - and how to manage both for speed, depth, and cost.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context window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window is the total token budget for a single conversation: everything the model can read at once.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holds the system prompt, your CLAUDE.md, tool definitions, your messages, and every tool result (file reads, command output, search hits).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finite and shared - every token spent on one thing is unavailable for another.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fills up, older turns must be summarized or dropped; nothing is "remembered" beyond what currently fits.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Claude Code sessions run on a large window (around 200K tokens for most models); a 1M-token option exists for select models.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consumes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reads - the biggest variable cost. Reading a 3,000-line file costs far more than reading the 40 lines you needed.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output -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test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log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build logs, and large command dumps land verbatim in context.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 - each connected server injects its tool schemas (and sometimes resources) at startup, before you do anything.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files - loaded automatically from project, parent,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useful, but always-on overhead.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running conversation itself - past tool calls and results accumulate turn after turn.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the window lean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targeted reads: 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offset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search (Grep/Glob) instead of dumping whole files.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MCP servers you are not using - their schemas cost tokens whether or not you call them.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CLAUDE.md tight; it is paid on every single turn, so favor pointers over pasted documentation.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subagents for exploratory or noisy work: a subagent burns its own context and returns only a summary to the main thread.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usage with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/context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see what is occupying the window before it becomes a problem.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Compaction and summarization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window approaches its limit, Claude Code compacts: it summarizes earlier conversation into a condensed form and continues.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Auto-compaction triggers near capacity; you can also run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/compact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manually at a clean stopping point.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Compaction is lossy - fine details, exact file contents, and earlier reasoning can be lost or blurred.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compact deliberately between tasks rather than mid-task, so the summary captures stable conclusions.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/clear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harder reset - it wipes the conversation entirely; use it when starting unrelated work.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as a context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subagent runs in its own separate context window and reports back a short result.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keeps large, throwaway output (searching a big repo, reading many files) out of your main conversation.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thread pays only for the subagent's final summary, not for everything it read along the way.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subagents cannot see your live conversation, so give them a complete, self-contained task.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parallel investigation, codebase exploration, and any step that generates a lot of noise.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1M context option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models offer a 1M-token (1 million) context window - roughly five times the standard size.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lets you hold very large codebases, long transcripts, or many files in view at once without compacting.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separate capability tied to specific model variants (often surfaced with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[1m]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marker on the model id).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context typically costs more per token and can be slower; do not reach for it by default.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 the task genuinely requires breadth - wide refactors, cross-file analysis - not as a substitute for disciplined reads.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and thinking budget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from context: "effort" (thinking budget) controls how much internal reasoning the model does before answering.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thinking improves multi-step reasoning, planning, and tricky debugging - at the cost of latency and tokens.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 Code, extended thinking is invoked with prompts like "think", "think hard", or "ultrathink" to escalate depth.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effort consumes context too - reasoning tokens occupy the same window as everything else.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effort to the task: quick edits and lookups need little; architecture decisions and subtle bugs reward more.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vs depth trade-off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effort = fast, cheap, good for mechanical or well-specified changes.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effort = slower, pricier, but stronger on ambiguity, planning, and correctness-critical work.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pairs well with higher effort: think first, get a plan, then execute without burning depth on simple steps.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Over-thinking simple tasks wastes time and tokens; under-thinking hard ones produces confident wrong answers.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dynamically - escalate when stuck, dial back once the path is clear.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configuration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CLAUDE.md keeps per-turn overhead low while steering behavior: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911535" cy="117957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Project: payments-api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Run tests with `pnpm test`, not npm.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Source lives in `src/`; never edit generated files in `dist/`.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Prefer reading specific files over `cat`-ing whole directories.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465576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rules in settings.json reduce noisy approval round-trips that clutter a session: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configuration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65506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"permissions":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"allow": ["Bash(pnpm test:*)", "Read(src/**)"],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"deny": ["Read(.env)"]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255264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hook can auto-trim noisy output before it ever reaches context: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configuration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"PostToolUse":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"matcher": "Bash",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"hooks": [{ "type": "command", "command": "tail -n 100" }]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and effort are two distinct budgets - manage both, not just one.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context waste is avoidable: targeted reads, trimmed output, fewer idle MCP servers, lean CLAUDE.md.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between tasks and use subagents to keep heavy work out of the main thread.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1M context and high effort intentionally, when breadth or depth truly demands it.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 effort to the task: fast for the simple, deep for the hard.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Skills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are model-invoked capabilities packaged as folders that Claude Code reads and runs on its own when a task matches, without you typing a command.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Skill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capability packaged as a folder containing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plus any supporting assets (scripts, templates, reference docs).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holds YAML frontmatter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and a Markdown body with instructions Claude follows when the skill activates.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extend what Claude can do for a specialized, repeatable workflow - e.g. filling a PDF form, applying a house style, scaffolding a component.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"progressive disclosure": only the name and description load up front; the full body and assets are read only when the skill is actually used.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SKILL.md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frontmatter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most important field - it is the only text Claude sees when deciding whether to invoke the skill.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body can reference bundled files by relative path; Claude reads them as needed instead of loading everything at once.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11535" cy="46634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pdf-form-filler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Fill and flatten PDF forms from a JSON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data file. Use when the user asks to populate a PDF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form or generate a filled PDF.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Form Filler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Read the field map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reference/fields.md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scripts/fill.py &lt;template.pdf&gt; &lt;data.json&gt;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Return the path to the output PDF.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11535" cy="46634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Claude decides to use 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are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model-invoked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Claude chooses to trigger one based on the conversation, not because you explicitly called it.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startup, Claude is given each skill's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lightweight metadata.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your request semantically matches a description, Claude opens that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follows its instructions.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precise, trigger-oriented description ("Use when the user asks to…") makes activation reliable; a vague one means the skill may never fire.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skills can be relevant; Claude picks based on the best match and may chain its steps with normal tool use.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Skills 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skills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~/.claude/skills/&lt;skill-name&gt;/SKILL.md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available across all your projects.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skills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.claude/skills/&lt;skill-name&gt;/SKILL.md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committed to the repo and shared with the team.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skills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bundled inside an installed plugin and namespaced as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plugin-name:skill-name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skill is its own subfolder; the folder name typically matches the skill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sit alongside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that folder and are referenced by relative path.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vs slash commands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user-invoked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you type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/name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run a prompt template on demand.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model-invoked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Claude decides to use them when the task fits, with no typing required.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slash command is essentially a single Markdown prompt file; a skill is a folder that can carry scripts, data, and multiple reference files.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slash command for an action you want to trigger deliberately; use a skill for a capability Claude should reach for automatically.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complementary - a slash command can be a deliberate entry point while skills handle background know-how.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vs other extension points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always-on project context and conventions; a skill loads only when relevant, keeping the base context lean.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external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data sources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a protocol; skills add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and workflows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the tools Claude already has.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separate context windows for delegated work; a skill is guidance executed within the current agent (though a skill can drive multi-step tool use).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deterministic shell commands the harness runs on events; skills are model-driven and only fire when Claude judges them relevant.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 good Skills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decision moment: state what the skill does and the situations that should trigger it.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body focused; push long details into separate reference files the body links to, preserving progressive disclosure.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executable helpers (Python/shell scripts) for deterministic steps instead of asking Claude to redo them by hand each time.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by describing a matching task in plain language and confirming Claude reaches for the skill on its own.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project skills to version control so the whole team gets the same behavior.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via plugins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can ship inside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installed from a marketplace, so capabilities are shareable beyond a single repo.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skills appear namespaced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plugin:skill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to avoid collisions with personal or project skills.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plugin commonly bundles related skills, slash commands, hooks, and MCP servers together.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makes skills a portable unit of expertise you can publish, version, and reuse across teams.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folder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assets) that packages a reusable, specialized workflow.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are model-invoked - Claude triggers them automatically - while slash commands are user-invoked by typing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/name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load up front; the body and files load on demand (progressive disclosure), so a sharp description is critical.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live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~/.claude/skills/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(personal),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.claude/skills/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(project), or inside plugins (namespaced).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complement CLAUDE.md, MCP, subagents, and hooks rather than replacing them: they add on-demand instructions and assets.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Hooks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let you run your own shell commands automatically at defined points in Claude Code's lifecycle, so you can enforce policy, automate chores, and shape the agent's behavior deterministically.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hooks 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User-defined shell commands that Claude Code runs automatically at specific lifecycle events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deterministic: the harness runs them every time, unlike asking the model to "remember" to do something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(not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is just guidance for the model)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hook receives a JSON payload on stdin describing the event and returns signals via exit code or JSON on stdout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things you want guaranteed: formatting, linting, audit logs, guardrails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lifecycle events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fires before a tool runs; can inspect and block the call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PostToolUse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fires after a tool succeeds; good for reacting to changes (e.g. format an edited file)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UserPromptSubmit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fires when you submit a prompt, before the model sees it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SessionStart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SessionEnd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fires when a session begins or ends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SubagentStop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fires when the main agent (or a subagent) finishes responding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Notification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PreCompact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fire on notifications and before context compaction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hooks are configured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under a top-level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(project, local, or user scope)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event maps to an array of matcher groups; each group has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matcher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 list of 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matcher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selects which tools trigger the hook (e.g.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a regex like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Edit|Write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without tools (like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SessionStart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ignore the matcher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hook entry has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type: "command"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hooks are configured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08152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"PostToolUse":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"matcher": "Edit|Write",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"hooks":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{ "type": "command", "command": "prettier --write \"$CLAUDE_FILE_PATHS\""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 payload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receive a JSON object on stdin every time they fire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fields: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session_id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hook_event_name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cwd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transcript path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events include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tool_name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tool_input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tool_response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PostToolUse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with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jq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any language to make decisions based on what the tool is doing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inspect the command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call is about to run before allowing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10911535" cy="117957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#!/usr/bin/env bash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input=$(cat)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cmd=$(echo "$input" | jq -r '.tool_input.command')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echo "$cmd" | grep -qE '\brm -rf\b' &amp;&amp; { echo "Blocked: rm -rf" &gt;&amp;2; exit 2; 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vs non-blocking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code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success; the action proceeds (stdout is informational)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code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blocking error; the action is stopped and stderr is fed back to Claude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non-zero codes - non-blocking error; surfaced to the user but the flow continues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certain events can actually block: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blocks the tool call,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UserPromptSubmit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blocks the prompt,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force the agent to keep working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PostToolUse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after the fact, so it cannot undo the tool, but a non-zero exit still feeds feedback to Claude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output for finer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exit codes, a hook can print a JSON object to stdout for richer control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continue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stopReason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suppressOutput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overall flow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permissionDecision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deny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overrides the normal permission prompt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UserPromptSubmit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SessionStart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inject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additionalContext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the conversation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lets a hook approve trusted commands automatically or add reason text when denying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output for finer control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89280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"hookSpecificOutput":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"hookEventName": "PreToolUse",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"permissionDecision": "deny",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"permissionDecisionReason": "Edits to .env are not allowed"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- format and lint on save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on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Edit|Write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run a formatter on changed files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$CLAUDE_FILE_PATHS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parse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tool_input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stdin) to target only what changed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with a linter that exits non-zero so Claude sees and fixes the errors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codebase consistent without the model having to remember to format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and more reliable than prompting "always run prettier afterward"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- 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on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scan and block dangerous commands before they run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on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Edit|Write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protect sensitive paths (secrets, lockfiles, CI config)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exit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decision with a clear reason so Claude understands and adapts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UserPromptSubmit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hooks can reject prompts that violate policy or inject required context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run in the harness, so the model cannot talk its way past them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ordering, and safety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resolve from user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project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and local settings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matching hooks for an event all run; non-blocking ones run in parallel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execute with your full user permissions - treat them like any script you trust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Newly edited hook config is not applied mid-session for safety; review changes before they take effect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commands standalone first, and quote variables to handle paths with spaces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make selected behaviors deterministic instead of relying on the model's good intentions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them per event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matchers that select tools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code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a JSON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deny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blocks;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UserPromptSubmit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your real gates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wins: auto-format on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command/path guardrails on 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run as you, with your permissions - keep them simple, safe, and tested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MCP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Model Context Protocol lets Claude Code reach beyond its built-in tools to talk to external systems, data sources, and services through standardized servers.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MCP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(Model Context Protocol) is an open standard for connecting LLM applications to external tools and data through a uniform interface.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 Code, MCP is the plugin layer for capabilities that are not built in - databases, issue trackers, browsers, internal APIs, SaaS products.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"host" (Claude Code) launches or connects to one or more "MCP servers," each exposing a set of capabilities.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 is transport-agnostic and JSON-RPC based, so the same server can serve many different MCP clients, not just Claude Code.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point: you write or install a server once, and Claude can use it without custom glue code in the model itself.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capability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callable functions the model can invoke (e.g.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query_database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create_ticket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These are the most common and are surfaced to Claude as available actions.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readable data the server exposes by URI (e.g. a file, a row, a document). Claude Code can list and read these via dedicated resource tools.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server-defined prompt templates that surface in Claude Code as slash commands, letting a server ship reusable workflows.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are model-invoked; resources are typically referenced or read on demand; prompts are user-invoked.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server can expose any mix of the three.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Transports - stdio vs HTTP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Claude Code spawns the server as a local subprocess and talks over stdin/stdout. Best for local tools, scripts, and anything that runs on your machine.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(streamable HTTP, the successor to the older SSE transport): Claude Code connects to a server over a URL. Best for remote/hosted servers and shared team services.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 servers start and stop with your Claude Code session; HTTP servers run independently and are reached over the network.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HTTP servers commonly require auth (headers or OAuth); stdio servers usually inherit your local environment and credentials.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stdio for "runs here," HTTP for "lives somewhere else."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servers with the CLI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fastest way to register a server is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add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writes the config for you.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(stdio):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11535" cy="70408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add my-db --scope project \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-- npx -y @some/db-mcp-server --readonly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493008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(HTTP):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servers with the CLI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70408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add --transport http linear https://mcp.example.com/sse \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--header "Authorization: Bearer ${TOKEN}"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304288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companions: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list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see configured servers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get &lt;name&gt;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details.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separates Claude's flags from the command/args passed to the server process.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scopes &amp; the JSON shape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can be configured at three scopes: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(just you, this project),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(shared via committed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.mcp.json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and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(you, across all projects).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.mcp.json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is the team-shareable form - commit it so everyone gets the same servers.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typical entry looks like: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scopes &amp; the JSON shape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36829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"mcpServers":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"my-db":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"command": "npx",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"args": ["-y", "@some/db-mcp-server", "--readonly"],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"env": { "DB_URL": "${DB_URL}"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968496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servers 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"type": "http"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"url"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an optional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"headers"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block instead of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scopes &amp; the JSON shape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${VAR}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expansion to keep secrets out of committed files.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MCP tools appear to Claude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 names are namespaced as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mcp__&lt;server&gt;__&lt;tool&gt;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they never collide with built-in tools or other servers.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Claude Code you can reference a server's prompts as slash commands like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/mcp__&lt;server&gt;__&lt;prompt&gt;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/mcp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command shows connected servers, their status, and lets you authenticate servers that need OAuth.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tool names are predictable, you can scope permissions to a whole server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mcp__linear__*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or a single tool.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that fail to start show up as errors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/mcp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rather than silently disappearing.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&amp; allowlisting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 obey the same permission system as everything else - by default Claude asks before calling them.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pre-approve trusted tools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cut down on prompts: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11535" cy="165506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"permissions":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"allow": ["mcp__my-db__query_database"],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"deny":  ["mcp__my-db__drop_table"]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443984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rules can target an entire server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mcp__my-db__*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or individual tools; deny rules win over allow.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&amp; allowlisting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and permission modes still apply: nothing executes until it clears your configured permission gate.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allowlisting read-only tools and keeping anything destructive behind explicit approval.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considerations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MCP server is third-party code running with your credentials and environment - treat installing one like installing a dependency.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servers you trust or can audit; pin versions and avoid pulling unpinned remote code where possible.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prompt-injection: tool results and resources are untrusted input and can try to steer Claude - be cautious about auto-approving tools that act on that content.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secrets in environment variables referenced from config, never hard-coded in committed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.mcp.json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remote HTTP servers, verify the endpoint and use proper auth; for stdio servers, remember they inherit your local shell access.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rules and least-privilege allowlists so a compromised or buggy server can't take destructive actions unprompted.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MCP vs other extension points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connect to an external system or shared service with a real protocol (DB, API, browser, SaaS).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package reusable instructions/workflows for Claude; no external process needed.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delegate a scoped task to a separate context window.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run your own shell commands deterministically on lifecycle events (e.g. format on edit).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bundle and distribute any of the above (including MCP servers) as one installable unit.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MCP specifically when the capability lives outside Claude Code and benefits from a standardized client/server boundary.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is Claude Code's standard way to reach external tools and data via servers that expose tools, resources, and prompts.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transport by location: stdio for local subprocesses, HTTP for remote/hosted services.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with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add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a committed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.mcp.json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using scopes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${VAR}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share safely.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 are namespaced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mcp__server__tool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and fully governed by the permission system - allowlist read-only, deny destructive.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run with your access, so treat them as trusted dependencies and stay alert to prompt injection from tool output.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Subagents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Claude Code delegates work to fresh, isolated agent instances so the main conversation stays focused and parallelizable.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subagent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Claude instance spawned by the main agent to handle a scoped task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with its own context window - it does not see your full conversation history, only the prompt it is handed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back a single result; intermediate steps stay out of the main thread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via the Task tool; you can also define reusable named agent types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"fork a worker, get an answer, discard the scratch work"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delegate - isolated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subagent gets a clean context window, so noisy exploration doesn't bloat the main conversation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agent only receives the distilled result, keeping its own context lean and on-task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searches that read many files: the subagent burns tokens reading, you get the summary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the chance the main thread drifts or loses the original goal under a pile of tool output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or dead ends are contained - they don't pollute the primary conversation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delegate - parallelism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subagents can run concurrently when their tasks are independent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fan-out work: search three areas of a codebase at once, then merge findings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them in a single batch so they execute in parallel rather than one after another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Wall-clock time drops because reads/searches happen simultaneously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parallelize truly independent work - shared edits must be sequenced to avoid conflicts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agent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reusable agents as Markdown files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.claude/agents/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(project) 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~/.claude/agents/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(user)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file has YAML frontmatter plus a system prompt describing the agent's role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restrict an agent's tools and give it a clear "when to use me" description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agent can then invoke that named type instead of writing an ad-hoc prompt each time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can also ship agent definitions for the whole team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10911535" cy="46634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test-runner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Runs the test suite and summarizes only failures. Use after code changes.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Bash, Read, Grep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run the project's tests, then report failing tests with the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context needed to fix them. Do not attempt fixes yourself.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11535" cy="46634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invocation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agent calls the Task tool with a subagent type and a self-contained prompt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must include everything the worker needs - it has no access to prior turns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subagent's final text response is the only thing returned to the caller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cannot spawn deeper subagents in a chain; keep delegation one level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explicit about the expected output shape (e.g. "return absolute file paths and line numbers")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delegate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search or research across many files where you only need the conclusion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subtasks that can run in parallel to save time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Heavy, token-expensive exploration you want to keep out of the main context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specialized jobs (review, test, lint triage) backed by a custom agent type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passes you want done with a fresh, unbiased context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do it inline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Quick, single-file edits or a couple of obvious commands - delegation overhead isn't worth it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that depends tightly on the current conversation's nuance and state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needing back-and-forth with you; subagents run autonomously to completion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edits to shared files, where parallel workers would collide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need to see and steer each step rather than receive only a final summary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vs. related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packaged instructions/scripts loaded on demand; a subagent can use skills, but they aren't the same thing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MCP: external tool/data servers; subagents may have MCP tools available within their tool set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Hooks: shell commands the harness fires on events (e.g.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SubagentStop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- automation around agents, not agents themselves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mode: a read-only planning state of one agent; distinct from spawning workers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SDK: the programmatic way to build your own agents/subagent orchestration outside the CLI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tips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delegation prompt as a standalone brief, including success criteria and output format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tools tightly in custom agents - fewer tools means safer, more focused behavior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absolute paths and concrete references so results are actionable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over-delegate trivial work; the round-trip costs latency and tokens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SubagentStop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hooks if you want automatic checks after a worker finishes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tips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89280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"SubagentStop":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{ "hooks": [{ "type": "command", "command": "npm run lint --silent" }]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= isolated, disposable workers that return a result and keep the main context clean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for broad search, parallel fan-out, and repeatable specialized jobs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custom agent types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.claude/agents/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frontmatter, a focused prompt, and limited tools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hand a subagent a self-contained brief - it cannot see your conversation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trivial, stateful, or interactive work inline; delegation shines on independent, token-heavy tasks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Agent Teams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coordinate multiple Claude Code agents - subagents and orchestrators - so that work gets split up, run in parallel, and verified instead of being done by one agent in a single context.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agent team?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"agent team" is several Claude instances working toward one goal, rather than a single long-running session.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building block is the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separate agent the main session spawns via the Task tool to handle a focused piece of work.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subagent runs in its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context window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returns only a final text summary to the caller - its intermediate tokens never pollute the parent's context.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session acts as the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it plans the work, dispatches subagents, and stitches their results together.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help with context budget (offload big reads), focus (one job per agent), and parallelism (many agents at once).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reusable subagents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subagents live as markdown files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.claude/agents/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(project) 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~/.claude/agents/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(user), with YAML frontmatter.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 tells the orchestrator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delegate to that agent; a strong description drives automatic routing.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scope each subagent's tools and give it its own system prompt, so a reviewer agent can be read-only while a builder can edit.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11535" cy="46634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test-runner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Runs the test suite and reports failures. Use after code changes.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Bash, Read, Grep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sonnet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run the project's tests, then summarize only the failing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and the likely cause. Do not attempt fixes.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11535" cy="70408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Subagents can also ship inside **plugins**, so a whole team travels with one install.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pattern - Fan-out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means the orchestrator splits a task into independent chunks and dispatches one subagent per chunk.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subtasks don't depend on each other: "audit each of these 5 modules," "summarize each log file."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them in parallel by issuing multiple Task calls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single turn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they then run concurrently.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returns a compact result; the orchestrator merges them into one answer.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each subagent's brief self-contained, since they can't see each other's work.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10911535" cy="941832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┌─ subagent: audit auth/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orchestrator┼─ subagent: audit api/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└─ subagent: audit db/   →  merge findings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pattern -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chains agents so each one's output feeds the next stage.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steps are dependent: research → plan → implement → test.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orchestrator runs these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sequentially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passing forward only the distilled result it needs, not raw context.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keeps each stage's context clean and lets you swap a specialized agent into any stage.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no parallelism, so reserve it for genuinely ordered work.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pattern - Verify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pattern pairs a "doer" with a separate "checker" agent.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agent with fresh context reviews the first one's output - catching errors the author is blind to.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pairs: implement + code-review, write + fact-check, fix + run-tests.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verifier read-only tools so it can inspect but not silently "fix" and mask problems.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/security-review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/review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slash commands are built-in examples of verifier-style agents.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work in parallel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 comes from issuing several Task calls in one assistant turn; the orchestrator waits for all to finish.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parallel candidates: independent file reads, multi-target searches, fan-out audits, generating alternatives.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conflicts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parallel agents editing the same files collide; keep parallel work read-only or partition the files.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heavier isolation, run separate Claude Code sessions in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worktrees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each on its own branch.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 trades token/cost for wall-clock speed, so use it where the subtasks are truly independent.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subagents into a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workflows mix the patterns: fan-out to gather, pipeline to process, verify to gate the result.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a repeatable workflow as a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.claude/commands/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that lays out the steps and which agents to call.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automate hand-offs - e.g.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SubagentStop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PostToolUse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that kicks off the next step.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subagents into a workflow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36829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"Stop":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{ "matcher": "", "hooks":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{ "type": "command", "command": "npm test"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]}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968496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to design the whole team and approve it before any agent starts editing.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subagents into a workflow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rules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the guardrails the whole team inherits.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with the Agent SDK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programmatic teams, the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Agent SDK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(TypeScript/Python) lets you build orchestrators in code instead of the CLI.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define subagents, tools, and permission policy, then drive multi-agent loops from a script or service.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path for CI jobs, batch processing, or wiring a fan-out/verify pattern into an automated pipeline.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SDK shares the same primitives as the CLI - system prompts, tools, MCP servers, permission modes - so designs transfer over.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 you need the team to run unattended; use the CLI when a human stays in the loop.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guidance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one clear job per subagent; vague briefs produce vague results since the agent can't ask the parent for clarification mid-run.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down only what the agent needs, and expect back only a tight summary - that is the whole point of separate contexts.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cannot spawn their own subagents, so keep orchestration at the top level.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agents means more tokens and cost; reach for a team when context, focus, or parallelism actually pays off - not by default.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and store agents/commands in the repo so the team is version-controlled and shared.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= an orchestrator plus focused subagents, each in its own clean context returning only a summary.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patterns: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(parallel independent work),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(ordered stages),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(separate checker).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parallelism by launching multiple Task calls in one turn; isolate heavy parallel edits with git worktrees.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patterns into repeatable workflows using slash commands, hooks, plan mode,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guardrails.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Agent SDK for unattended/programmatic teams; spend extra agents only when they clearly earn their cost.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Skill Creator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author your own Claude Code Skills - folder layout, an effective SKILL.md, bundled scripts, testing, and the conventions that make a Skill discoverable and reliable.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Skill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reusable, model-invoked capability packaged as a folder containing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plus optional supporting files.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reads each Skill's name and description at startup, then decides on its own when a Skill is relevant to the current task and loads its full instructions on demand.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progressive disclosure: only the lightweight metadata sits in context until a Skill is actually triggered, keeping the context window lean.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differ from CLAUDE.md (always-on project memory) and from slash commands (explicit user invocation) - Skills are pulled in by the model when they match.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 be personal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~/.claude/skills/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project-scoped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.claude/skills/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or shipped inside a plugin.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folder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Skill lives in its own directory; the directory name is the Skill's identifier (use lowercase-with-hyphens).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required file is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folder root.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files sit alongside it - reference docs, scripts, templates, and example data.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convention is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references/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subfolder for extra markdown and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subfolder for executables.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folder structure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36829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.claude/skills/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pdf-extractor/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├── SKILL.md          # required: metadata + instructions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├── references/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│   └── advanced.md   # loaded only when needed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├── scripts/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│   └── extract.py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└── templates/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└── report.md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SKILL.md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SKILL.md has two parts: YAML frontmatter at the top and Markdown instructions in the body.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Frontmatter requires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body holds the actual guidance Claude follows once the Skill loads.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should match the folder and be short and descriptive;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single most important field for discovery.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body can be as long as needed - but offload deep detail to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files the body points to, so it loads only when required.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11535" cy="46634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pdf-extractor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Extract text and tables from PDF files. Use when the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user needs to read, parse, or pull data out of a PDF document.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Extractor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Instructions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Run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scripts/extract.py &lt;path&gt;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get raw text.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For tables, see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references/advanced.md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Return results as clean Markdown.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11535" cy="46634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an effective description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description is what Claude matches against the task - write it to answer "what does this do AND when should it be used."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capability, then add explicit trigger phrases ("Use when…") that mirror how a user would actually phrase the request.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specific: vague descriptions like "helps with files" rarely fire; concrete nouns and verbs win.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 key terms a user might say (formats, tools, domains) so the match is robust to phrasing.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to a couple of sentences - it lives in context for every session, so it must earn its space.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instruction body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for Claude as the reader: imperative steps, clear ordering, and unambiguous decision points.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numbered procedures and short sections over long prose; call out edge cases explicitly.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to bundled scripts and reference files by relative path rather than inlining everything.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expected output format so results are consistent across runs.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duplicating what the model already knows well - focus on the project- or domain-specific knowledge it lacks.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Bundling scripts and resources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let a Skill do deterministic work (parsing, API calls, transforms) instead of relying on the model to improvise.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them by relative path from the Skill folder; make executables runnable and document how to call them in the body.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heavy reference material in separate files and link to them - the model reads them only when the step requires it.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any runtime prerequisites (Python version, packages, CLI tools) in the instructions so the model can check or install them.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model still needs permission to run commands - script execution goes through normal Claude Code permission prompts and allowlists.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your Skill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or reload Claude Code so it picks up the new Skill folder, then confirm it appears in the available-skills list.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discovery: phrase a request the way a real user would and verify the Skill actually fires without you naming it.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execution: walk through the full procedure, checking that scripts run and reference files load as intended.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on 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when a Skill fails to trigger - that is the most common cause of a Skill being ignored.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negative cases too: make sure the Skill does NOT fire on unrelated requests.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Skill, one job - narrow, focused Skills are easier to match and maintain than sprawling ones.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description trigger-rich and the body lean; push detail into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protect context.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scripts for anything that must be exact or repeatable; let the model handle judgment.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and review Skills like code; project Skills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.claude/skills/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be committed so the whole team shares them.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related Skills into a plugin when you want to distribute them across repos or teammates.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names, folders, and 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 consistent to avoid confusion.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folder with a required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(YAML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Markdown instructions) that Claude loads on demand.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drives discovery - make it specific and include "use when" trigger phrases.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body lean and offload depth to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references/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context stays small.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scripts for deterministic work; they still run under normal permission controls.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both that the Skill fires when it should and stays quiet when it shouldn't, tuning the description first.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Plugins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are installable bundles that package skills, slash commands, hooks, subagents, and MCP servers together so a whole team can extend Claude Code the same way with one command.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150</a:t>
            </a:fld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plugin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plugin is a single distributable unit that bundles one or more Claude Code extensions into a versioned package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contain any mix of: skills, slash commands, hooks, subagents (custom agents), and MCP server definitions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is packaging and sharing - instead of hand-copying files into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you install one plugin and get everything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are loaded by Claude Code at startup; their contents appear alongside your own project and user-level config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plugin has a manifest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declaring its name, version, and what it provides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151</a:t>
            </a:fld>
            <a:endParaRPr 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things a plugin can bundle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model-invoked capability folders (a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plus optional scripts/references) that Claude loads on demand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/name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 templates the user triggers explicitly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shell commands wired to lifecycle events (e.g.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SessionStart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specialized agent definitions with their own prompt, tools, and model that Claude can delegate tasks to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connections to external tools/data via the Model Context Protocol, so the plugin can ship integrations (GitHub, a database, an internal API)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plugin does not have to include all five - many ship just a skill or just a set of commands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152</a:t>
            </a:fld>
            <a:endParaRPr 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marketplace is a catalog of plugins, defined by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marketplace.json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lists available plugins and where to fetch them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Marketplaces are typically backed by a git repository, so a team can host its own private internal marketplace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add a marketplace once, then browse and install any plugin it offers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and the community publish marketplaces; organizations commonly run their own for internal-only plugins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marketplace is the discovery layer; the plugin is the actual installed payload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10911535" cy="70408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add a marketplace (e.g. a team's internal repo)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 marketplace add your-org/claude-plugins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153</a:t>
            </a:fld>
            <a:endParaRPr lang="en-US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Installing and managing plugins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command is the entry point for browsing, installing, enabling, disabling, and removing plugins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pulls the plugin from its marketplace; you can then enable or disable it without fully uninstalling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Disabling is useful to silence a noisy plugin or resolve a command-name conflict without losing the install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are versioned, so you can update to pick up new commands, skills, or fixes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11535" cy="941832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                       # open the interactive plugin menu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 marketplace add &lt;repo&gt;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 install &lt;name&gt;@&lt;marketplace&gt;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154</a:t>
            </a:fld>
            <a:endParaRPr lang="en-US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plugin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plugin is a directory with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manifest at its root describing metadata and contents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subfolders hold each extension type, for example: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11535" cy="189280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my-plugin/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plugin.json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commands/        # slash commands (.md)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skills/          # skill folders, each with SKILL.md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agents/          # subagent definitions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hooks/hooks.json # hook event wiring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.mcp.json        # MCP server definitions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155</a:t>
            </a:fld>
            <a:endParaRPr lang="en-US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plugin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reads the manifest, then exposes whatever folders exist - missing folders are simply skipped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inside the plugin can reference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${CLAUDE_PLUGIN_ROOT}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scripts resolve correctly regardless of install location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156</a:t>
            </a:fld>
            <a:endParaRPr lang="en-US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plugins layer with the rest of config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merges configuration from several places: user-level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project-level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and installed plugins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skills and commands live alongside your own - a project skill and a plugin skill can coexist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precedence still applies: enterprise managed settings, then user, then project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settings.local.json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hooks run as part of the same lifecycle events as any hooks you define yourself in 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 from a plugin behave like MCP servers you'd add manually - they just arrive pre-packaged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157</a:t>
            </a:fld>
            <a:endParaRPr lang="en-US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for a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turn "here's how we use Claude Code" into something installable and version-controlled instead of tribal knowledge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internal marketplace lets every engineer install the same review commands, deploy workflows, and house-style skills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Bundling hooks lets a team enforce conventions automatically - e.g. run a formatter after edits or block writes to protected paths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shrinks to a couple of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commands rather than copying snippets into each person's config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one plugin in the marketplace rolls improvements out to the whole team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158</a:t>
            </a:fld>
            <a:endParaRPr lang="en-US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for a team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319272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hooks.json - auto-format edited files team-wide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"PostToolUse":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"matcher": "Edit|Write",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"hooks":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{ "type": "command", "command": "prettier --write \"$CLAUDE_FILE_PATHS\""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159</a:t>
            </a:fld>
            <a:endParaRPr lang="en-US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build a plugin (vs. plain config)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plain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skill, command, 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it's specific to one repo and you don't need to share it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a plugin when the same extensions should travel across many repos or many teammates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are also right when you want versioning, a changelog, and a clean install/uninstall story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shipping an MCP integration plus the commands that drive it, bundling them in one plugin keeps them in sync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plugins focused - a tight bundle around one workflow is easier to adopt than a kitchen-sink plugin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160</a:t>
            </a:fld>
            <a:endParaRPr lang="en-US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plugin bundles skills, commands, hooks, subagents, and MCP servers into one installable, versioned package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Marketplaces (often git-backed, including private internal ones) are how plugins are discovered and distributed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everything through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add a marketplace, install, enable/disable, update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contents layer cleanly with your user- and project-level config and follow the same settings precedence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teams, plugins standardize workflows and enforce conventions, turning setup into a one-command onboarding step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161</a:t>
            </a:fld>
            <a:endParaRPr lang="en-US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Cowork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treat Claude Code as a collaborator you work alongside - pairing in real time, handing off async work, and keeping a human in the loop at the right checkpoints.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162</a:t>
            </a:fld>
            <a:endParaRPr lang="en-US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"Cowork" means here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is a working style, not a single button: you and the agent share the same repo, terminal, and task context.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runs as an interactive loop - you steer, it acts, you review, you steer again.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 of collaboration is the session: a conversation plus the file edits, commands, and tool calls it produces.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cowork is about controlling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agent acts autonomously versus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pauses for you.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163</a:t>
            </a:fld>
            <a:endParaRPr lang="en-US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- agree before acting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lets Claude research and propose an approach without editing files or running mutating commands.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it with Shift+Tab (cycling permission modes) or start a session in plan mode.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reads code, asks questions, and presents a plan; you approve, edit, or reject before any change lands.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first step for cowork: you and the agent align on intent, then switch to an execution mode.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wasted work - no large diffs appear until you've signed off on the direction.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164</a:t>
            </a:fld>
            <a:endParaRPr lang="en-US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modes - the autonomy dial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mode: Claude asks before each consequential action (writes, shell commands, network).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acceptEdits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file edits apply automatically, but commands still prompt - useful for fast iteration on code.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read-only research and proposal, no changes.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"Bypass permissions" / YOLO-style mode runs without prompts - only for trusted, sandboxed work.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is mostly about picking the right point on this dial for the task and your trust level.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165</a:t>
            </a:fld>
            <a:endParaRPr lang="en-US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Persisting shared context with CLAUDE.md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project memory loaded into every session - your shared rulebook with the agent.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conventions, commands, and gotchas there so each session starts aligned instead of re-learning.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Scopes stack: enterprise, user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and project files combine.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166</a:t>
            </a:fld>
            <a:endParaRPr lang="en-US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Persisting shared context with CLAUDE.md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30552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CLAUDE.md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Workflow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Run `npm test` before proposing a commit.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Never push to `main`; open a PR instead.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Ask before editing files under `infra/`.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Conventions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TypeScript, 2-space indent, no default exports.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730752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it like onboarding docs for a teammate who forgets between sessions.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167</a:t>
            </a:fld>
            <a:endParaRPr lang="en-US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checkpoints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control by reviewing diffs and approving commands as they're proposed.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Esc to interrupt mid-action and redirect; the agent stops and waits for new instructions.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prompts are natural checkpoints - read them rather than reflexively approving.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plan mode for risky changes so the human reviews the strategy, not just the diff.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surfaces its reasoning and tool calls so you can audit what it did and why.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168</a:t>
            </a:fld>
            <a:endParaRPr lang="en-US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- automated guardrails in the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run your shell commands at lifecycle events (e.g.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independent of the model.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them to enforce policy that shouldn't depend on the agent remembering - formatting, linting, blocking edits.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can deny an action by returning a non-zero exit, keeping a human-defined rule in the loop.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169</a:t>
            </a:fld>
            <a:endParaRPr lang="en-US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- automated guardrails in the loop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"PostToolUse": [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"matcher": "Edit|Write",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"hooks": [{ "type": "command", "command": "npx prettier --write \"$CLAUDE_FILE_PATHS\"" }]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170</a:t>
            </a:fld>
            <a:endParaRPr lang="en-US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- automated guardrails in the loop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make cowork repeatable: the same checks fire no matter who is driving.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171</a:t>
            </a:fld>
            <a:endParaRPr lang="en-US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Delegating to subagents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are separate Claude instances with their own context window, prompt, and tool permissions.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session can hand a scoped task (e.g. "review this diff", "explore the auth module") to a subagent.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subagent reports back a summary, keeping the main conversation focused and uncluttered.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custom subagents (in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.claude/agents/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with tailored instructions and restricted tools.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parallel cowork: research, review, and implementation can run as distinct roles.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172</a:t>
            </a:fld>
            <a:endParaRPr lang="en-US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setup across a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Project-scoped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skills, hooks, and subagents can be committed to the repo.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bundle skills, slash commands, agents, hooks, and MCP servers for one-step team distribution.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 connect the agent to shared tools and data (issue trackers, databases, internal APIs).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Committing this config means every teammate's sessions behave consistently - shared cowork conventions, not personal ones.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settings.local.json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stays per-user and out of version control for personal overrides.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173</a:t>
            </a:fld>
            <a:endParaRPr lang="en-US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collaboration and handoffs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or background work can run detached and report back when it finishes, so you don't babysit it.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Scheduled/triggered runs let the agent pick up recurring tasks and resume a session later.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durable context (plans, decisions, TODOs) into files so a future session - or a teammate - can continue the work.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session is a handoff artifact: someone else can read the transcript and diffs to understand what happened.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programmatic cowork, the Agent SDK embeds the same agent loop into your own apps and pipelines.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174</a:t>
            </a:fld>
            <a:endParaRPr lang="en-US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is about tuning autonomy: plan mode and permission modes decide when the agent acts versus asks.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humans in the loop at meaningful checkpoints - review diffs, approve commands, interrupt with Esc.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shared context and guardrails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hooks so collaboration is consistent and repeatable.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scoped work to subagents and connect shared tools via MCP and plugins.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and sessions are your handoff medium for async work and teammate collaboration.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175</a:t>
            </a:fld>
            <a:endParaRPr lang="en-US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Claude Code Desktop &amp; GitHub Workflow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drive Claude Code outside the terminal and use it to automate everyday GitHub work - pull requests, reviews, issues, and repo chores via the </a:t>
            </a:r>
            <a:pPr indent="0" marL="0">
              <a:buNone/>
            </a:pPr>
            <a:r>
              <a:rPr lang="en-US" sz="2000" i="1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</a:t>
            </a:r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176</a:t>
            </a:fld>
            <a:endParaRPr lang="en-US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terminal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started as a terminal CLI but now also runs in a desktop/IDE context (VS Code and JetBrains extensions) and inside the Claude app, not just a raw shell.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 integration shares the same engine as the CLI: same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same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same permission model - only the front-end changes.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desktop/IDE surface adds inline diff viewing, file-tree awareness, and a panel UI, while still letting Claude run tools and edit files.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run several sessions in parallel (e.g. one per worktree/branch) for independent tasks.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mode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-p "..."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the same tool with no UI - ideal for scripts, cron jobs, and CI.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177</a:t>
            </a:fld>
            <a:endParaRPr lang="en-US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config, many surfaces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(project root 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holds persistent context and conventions Claude reads automatically every session.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controls permissions, env vars, hooks, and model choice;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.claude/settings.local.json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holds your personal, gitignored overrides.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MCP servers, skills, subagents, and plugins are available whether you launch from terminal or IDE.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config is file-based, switching front-ends does not change behavior - your guardrails travel with the repo.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178</a:t>
            </a:fld>
            <a:endParaRPr lang="en-US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config, many surfaces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89280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.claude/settings.json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"permissions":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"allow": ["Bash(gh pr view:*)", "Bash(gh issue list:*)"],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"deny":  ["Bash(git push --force:*)"]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179</a:t>
            </a:fld>
            <a:endParaRPr lang="en-US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gh CLI is the bridge to GitHub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has no special GitHub API of its own; it shells out to the official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 you already have authenticated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auth login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 can do with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PRs, issues, reviews, releases, workflow runs - Claude can do by composing the right command.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calls under permission rules so read-only commands run freely while write actions stay gated.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keeps auth with GitHub, not with Claude: tokens live in your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config, not in Claude's settings.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11535" cy="941832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pr list --state open --limit 10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issue view 42 --comments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pr checks 128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180</a:t>
            </a:fld>
            <a:endParaRPr lang="en-US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pull requests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to branch, commit, and open a PR; it typically runs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commit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pr create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PR.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draft the PR title and body from the actual diff and recent commits, summarizing what changed and why.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Commit/push only happens when you ask - Claude should not push to a default branch; have it branch first.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style (commit message format, required trailers, PR template) belongs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every PR is consistent.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11535" cy="941832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checkout -b fix/login-redirect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commit -am "fix: correct post-login redirect"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pr create --fill --base main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181</a:t>
            </a:fld>
            <a:endParaRPr lang="en-US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pull requests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Claude at a PR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pr view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pr diff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and ask for a focused review: correctness bugs, missing tests, risky changes.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post findings as inline review comments via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pr review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api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just summarize in chat for you to act 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built-in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/review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/security-review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commands target the current diff or a PR with a structured checklist.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plan mode (read-only) for a review pass when you want analysis without any file edits or commands that change state.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depth explicitly - fewer high-confidence findings vs. broad coverage that may include uncertain ones.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182</a:t>
            </a:fld>
            <a:endParaRPr lang="en-US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issues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can triage with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issue list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issue view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reproduce, propose a fix, and open a PR that closes the issue.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closing keywords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Closes #123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in the PR body so GitHub links and auto-closes the issue on merge.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label, comment, and assign via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issue edit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issue comment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permissions allow.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large backlogs, subagents or skills can cluster duplicate reports by root cause before you plan fixes.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Claude the issue number and let it gather context itself rather than pasting the whole thread.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10911535" cy="70408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issue create --title "Flaky auth test" --label bug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issue comment 42 --body "Reproduced on main; fix in #128"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183</a:t>
            </a:fld>
            <a:endParaRPr lang="en-US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repo tasks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fire on events (e.g.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to run formatters, linters, or notifications deterministically - the harness runs them, not the model.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-p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plus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lets you script recurring chores: triage new issues, label PRs, draft release notes in CI.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handle isolated sub-tasks (e.g. "review this file") with their own context, keeping the main thread clean.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and plugins package reusable workflows (PR babysitting, issue clustering, version bumps) you can invoke on demand.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SDK lets you build your own programs on the same engine when a one-off command isn't enough.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184</a:t>
            </a:fld>
            <a:endParaRPr lang="en-US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repo tasks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36829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settings.json - auto-format after edits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"PostToolUse": [{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"matcher": "Edit|Write",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"hooks": [{ "type": "command", "command": "prettier --write $CLAUDE_FILE_PATHS" }]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185</a:t>
            </a:fld>
            <a:endParaRPr lang="en-US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&amp; safety on GitHub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modes range from prompt-on-every-action to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acceptEdits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fully autonomous - match the mode to the trust level of the task.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 safe, read-only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commands so they never interrupt you; gate or deny destructive ones (force push, branch delete).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is read-only: ideal for review and investigation where Claude should look but not touch.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CI/headless runs, prefer narrow, explicit allow rules over broad autonomy so an automated job can't run unexpected commands.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secrets out of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settings; let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environment own authentication.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186</a:t>
            </a:fld>
            <a:endParaRPr lang="en-US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 everywhere: terminal, IDE, and headless all share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MCP, skills, and hooks.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work flows through the authenticated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 - PRs, reviews, and issues are just commands Claude composes.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your conventions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your guardrails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behavior is consistent and safe.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Hooks, subagents, skills, and headless mode turn repetitive repo chores into reliable automation.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plan mode and tight permission allowlists to review safely and to keep automated runs from doing anything destructive.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187</a:t>
            </a:fld>
            <a:endParaRPr lang="en-US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Agent SDK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Claude Agent SDK lets you run Claude Code's agent loop as a library inside your own programs, so you can build custom agents with the same tools, sessions, and permission controls that power the CLI.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188</a:t>
            </a:fld>
            <a:endParaRPr lang="en-US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SDK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harness that powers the Claude Code CLI, exposed as a programmable library instead of a terminal app.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Originally shipped as the "Claude Code SDK," later renamed the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Agent SDK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reflect that it builds general agents, not just coding tools.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for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TypeScript/JavaScript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@anthropic-ai/claude-agent-sdk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and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claude-agent-sdk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you the full agent loop: model calls, tool execution, context management, and permission gating - all handled for you.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 you want Claude Code behavior embedded in an app, service, or batch job rather than driven interactively.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189</a:t>
            </a:fld>
            <a:endParaRPr lang="en-US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 as a library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idea: you send a prompt, and the SDK runs the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Claude decides on actions, calls tools, reads results, and repeats until the task is done.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hand-write the orchestration; the SDK manages the turn-by-turn cycle of thinking, tool use, and responding.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stream back as a sequence of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(assistant text, tool calls, tool results, final result) you can consume as they arrive.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includes automatic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compaction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long-running tasks don't blow the context window.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same loop the CLI uses, so behavior is consistent between interactive sessions and programmatic ones.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190</a:t>
            </a:fld>
            <a:endParaRPr lang="en-US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the SDK (TypeScript)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primary entry point is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query()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takes a prompt plus an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object and returns an async iterator of messages.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191</a:t>
            </a:fld>
            <a:endParaRPr lang="en-US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the SDK (TypeScript)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08152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{ query } from "@anthropic-ai/claude-agent-sdk";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await (const msg of query({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prompt: "Find and fix the failing test in this repo",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options: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permissionMode: "acceptEdits",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allowedTools: ["Read", "Edit", "Bash"],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cwd: "/path/to/project",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}))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if (msg.type === "result") console.log(msg.result);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192</a:t>
            </a:fld>
            <a:endParaRPr lang="en-US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the SDK (TypeScript)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permissionMode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allowedTools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cwd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systemPrompt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common options.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comes from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ANTHROPIC_API_KEY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a configured Bedrock/Vertex provider).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193</a:t>
            </a:fld>
            <a:endParaRPr lang="en-US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the SDK (Python)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offers a one-shot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query()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async generator and a stateful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ClaudeSDKClient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multi-turn conversations.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194</a:t>
            </a:fld>
            <a:endParaRPr lang="en-US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the SDK (Python)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355701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anyio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claude_agent_sdk import query, ClaudeAgentOptions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 def main():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async for msg in query(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prompt="Summarize the README in this folder",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options=ClaudeAgentOptions(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allowed_tools=["Read", "Glob"],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permission_mode="default",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),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):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print(msg)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anyio.run(main)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195</a:t>
            </a:fld>
            <a:endParaRPr lang="en-US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the SDK (Python)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ClaudeSDKClient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you need to keep a session open and send follow-up turns interactively.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196</a:t>
            </a:fld>
            <a:endParaRPr lang="en-US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available to your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Claude Code tools are available: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Grep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WebFetch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WebSearch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TodoWrite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subagent tool.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exposure with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allowedTools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disallowedTools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an agent only gets the capabilities it needs.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own tools in two ways: connect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define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in-process custom tools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createSdkMcpServer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tool()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TS) that run inside your application.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In-process tools are great for app-specific actions (query your DB, call your internal API) without spawning a separate process.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results feed back into the loop automatically; you generally don't manually wire results into the next prompt.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197</a:t>
            </a:fld>
            <a:endParaRPr lang="en-US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and conversation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one continuous conversation with its accumulated context, history, and working directory.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query()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returns a session you can resume; Python's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ClaudeSDKClient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keeps the session alive for back-and-forth turns.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can be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ID so an agent can pick up where it left off across separate runs.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sessions are kept manageable through automatic compaction of older context.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session has its own permission state and working directory, so concurrent agents stay isolated.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198</a:t>
            </a:fld>
            <a:endParaRPr lang="en-US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and safety controls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modes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CLI apply: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(ask),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acceptEdits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(auto-approve file edits),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(read-only planning, no mutations),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bypassPermissions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(skip prompts - use with care).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control comes from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allowedTools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disallowedTools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 programmatic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canUseTool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callback that approves or denies each tool call.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canUseTool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lets you implement custom policy - log requests, prompt a human, or block dangerous commands.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(PreToolUse, PostToolUse, etc.) can run your code at lifecycle points to validate, modify, or veto actions.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SDK can act autonomously, lock down permissions deliberately -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bypassPermissions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removes the safety net.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199</a:t>
            </a:fld>
            <a:endParaRPr lang="en-US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Reusing Claude Code configuration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SDK can load familiar Claude Code config: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memory files,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working directory supplies project context, just like in the CLI.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11535" cy="117957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Project: billing-service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Run tests with `pytest -q`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Never edit files under `migrations/` directly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Prefer async functions for new I/O code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68496"/>
            <a:ext cx="109115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also set 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systemPrompt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option directly, or extend the default Claude Code system prompt rather than replacing it.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the main agent delegate scoped work via the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tool, keeping the primary context clean.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extend the agent with reusable instructions and bundled tooling.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200</a:t>
            </a:fld>
            <a:endParaRPr lang="en-US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SDK 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fits: CI bots that fix or review code, batch refactors across many repos, automated triage, custom internal "agent" products, and chat backends.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abstracts away prompt construction, tool wiring, retries, and context management so you focus on the task and policy.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output makes it suitable for live UIs that show the agent's progress turn by turn.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headless/non-interactive runs, choose a permission mode that needs no human prompts (and accept the added risk).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supported path for embedding Claude Code capabilities - more robust than scripting the CLI binary directly.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201</a:t>
            </a:fld>
            <a:endParaRPr lang="en-US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SDK is Claude Code's agent loop packaged as a TypeScript and Python library - same tools, sessions, and permissions, programmatically.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query()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the loop and streams messages;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ClaudeSDKClient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(Python) keeps multi-turn sessions alive and resumable.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extend agents with MCP servers and in-process custom tools, and constrain them with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allowedTools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permission modes,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canUseTool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hooks.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reuses CLAUDE.md, settings.json, subagents, and skills, so config carries over from the CLI.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permissions deliberately for autonomous runs - convenience modes like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bypassPermissions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trade safety for fewer prompts.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202</a:t>
            </a:fld>
            <a:endParaRPr lang="en-US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Wrapping Up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9DA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Claude Code's building blocks - CLAUDE.md, permissions, skills, hooks, MCP, subagents, and plugins - fit together into one customizable agent, plus a workflow to use them well.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203</a:t>
            </a:fld>
            <a:endParaRPr lang="en-US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is an agentic CLI: a model that reads, edits, and runs code in your terminal using tools.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is configuration that shapes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context it has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allowed to do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behaves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broad layers: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(CLAUDE.md, MCP),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(permissions, hooks), and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(skills, subagents, plugins).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all of it lives in plain files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.claude/...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that you can commit and share.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minimal; add pieces only when a real friction point shows up.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204</a:t>
            </a:fld>
            <a:endParaRPr lang="en-US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- persistent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Auto-loaded memory file that gives Claude project conventions, commands, and gotchas every session.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at several levels: project root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(shared),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CLAUDE.local.md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personal notes,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~/.claude/CLAUDE.md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global preferences.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short and high-signal - it's spent on every turn, so bloat costs context.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@path/to/file.md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imports to pull in modular docs instead of one giant file.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11535" cy="1179576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Project: payments-api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Run tests: `pnpm test`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Never edit files in `generated/` - they're built from protobufs.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Use the `Result&lt;T&gt;` type for fallible functions, not exceptions.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205</a:t>
            </a:fld>
            <a:endParaRPr lang="en-US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- what Claude may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calls are gated by allow / ask / deny rules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sensitive actions prompt unless pre-approved.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are specific, e.g.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Bash(npm run test:*)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Read(./src/**)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resolve deny &gt; ask &gt; allow.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modes change the default posture: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acceptEdits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(read-only investigation),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bypassPermissions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 prompts - use with care).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cascade: enterprise &gt; project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&gt; user (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~/.claude/settings.json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with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.local.json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uncommitted overrides.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206</a:t>
            </a:fld>
            <a:endParaRPr lang="en-US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- what Claude may do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892808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"permissions":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"allow": ["Bash(git status)", "Read(./**)"],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"ask": ["Bash(git push:*)"],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"deny": ["Read(./.env)", "Bash(rm -rf:*)"]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207</a:t>
            </a:fld>
            <a:endParaRPr lang="en-US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- packaged know-how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folder with 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describing a repeatable procedure, plus optional scripts and reference files.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the name/description up front and loads the full body only when the task matches - progressive disclosure keeps context lean.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codifying workflows your team repeats: releasing, writing a certain kind of test, generating a report.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Invoked automatically when relevant, or explicitly as a slash command; they can ship inside plugins.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11535" cy="46634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208</a:t>
            </a:fld>
            <a:endParaRPr lang="en-US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release-notes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Generate release notes from merged PRs since the last tag.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209</a:t>
            </a:fld>
            <a:endParaRPr lang="en-US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Find the last git tag.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List merged PRs since then via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pr list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Group by label and write CHANGELOG entries.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11535" cy="466344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210</a:t>
            </a:fld>
            <a:endParaRPr lang="en-US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- deterministic automation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commands the harness (not the model) runs on lifecycle events: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UserPromptSubmit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SessionStart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more.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them for guarantees the model shouldn't be trusted to remember - auto-formatting after edits, blocking writes to protected paths, logging.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PreToolUse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can return a non-zero/deny decision to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action before it happens.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they fire every time, which is exactly why they're reliable.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211</a:t>
            </a:fld>
            <a:endParaRPr lang="en-US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- deterministic automation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30552"/>
          </a:xfrm>
          <a:prstGeom prst="rect">
            <a:avLst/>
          </a:prstGeom>
          <a:solidFill>
            <a:srgbClr val="1E242C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"hooks": 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"PostToolUse": [{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"matcher": "Edit|Write",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"hooks": [{ "type": "command", "command": "prettier --write \"$CLAUDE_FILE_PATHS\"" }]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}]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212</a:t>
            </a:fld>
            <a:endParaRPr lang="en-US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- external tools and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connects Claude to outside systems: databases, issue trackers, browsers, internal APIs.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 expose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(actions) and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(readable context) over a standard interface, so any compliant server just works.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servers per-project or globally; their tools appear with an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mcp__&lt;server&gt;__&lt;tool&gt;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naming pattern and obey the same permission rules.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Claude Code reaches beyond your filesystem and shell without baking integrations into the core tool.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213</a:t>
            </a:fld>
            <a:endParaRPr lang="en-US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- delegated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are separate Claude instances Claude can spawn for a focused task, each with its own context window.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main thread clean: a subagent can read 50 files or run a noisy search and return just the answer.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with their own system prompt, tool allowlist, and model - define reusable ones in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.claude/agents/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parallelizable or exploratory work (codebase search, multi-file review); they can't see each other, so give each a self-contained brief.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214</a:t>
            </a:fld>
            <a:endParaRPr lang="en-US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- bundling and sharing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plugin packages skills, slash commands, hooks, subagents, and MCP server configs into one installable unit.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via marketplaces (git repos with a manifest), so a team can install a shared toolkit with one command.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unit of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it ties together the other primitives so onboarding a repo means installing one thing.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to standardize how your whole team works with Claude Code instead of everyone hand-configuring.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215</a:t>
            </a:fld>
            <a:endParaRPr lang="en-US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tells Claude about your project;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it access to systems beyond the repo.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 the guardrails - one decides what's allowed, the other enforces guarantees deterministically.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extend capability - reusable procedures and isolated worker contexts.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bundle all of the above so it's shareable and consistent across a team.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constant; these layers turn a generic agent into one that fits </a:t>
            </a:r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codebase.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216</a:t>
            </a:fld>
            <a:endParaRPr lang="en-US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→ Plan → Implement → Verify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understand first, agree on an approach, then change code, then check it.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anything non-trivial so Claude investigates read-only before touching files.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changes reviewable: small commits, run tests/linters (ideally enforced via a hook), read the diff yourself.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context: start fresh sessions for new tasks, 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/clear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push heavy investigation into subagents.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recurring fixes and conventions back into CLAUDE.md and skills so the setup compounds over time.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217</a:t>
            </a:fld>
            <a:endParaRPr lang="en-US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go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official docs at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docs.claude.com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(Claude Code section) for the authoritative, up-to-date reference.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/help</a:t>
            </a:r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in-session and </a:t>
            </a:r>
            <a:pPr indent="0" marL="0">
              <a:buNone/>
            </a:pPr>
            <a:r>
              <a:rPr lang="en-US" sz="2000" dirty="0">
                <a:solidFill>
                  <a:srgbClr val="FFD3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--help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current commands and flags.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programmatic / headless use, explore the </a:t>
            </a:r>
            <a:pPr indent="0" marL="0">
              <a:buNone/>
            </a:pPr>
            <a:r>
              <a:rPr lang="en-US" sz="2000" b="1" dirty="0">
                <a:solidFill>
                  <a:srgbClr val="FF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SDK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exposes the same agent loop for building your own tools and automations.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community plugins and marketplaces, but vet hooks and MCP servers before trusting them - they run with your permissions.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218</a:t>
            </a:fld>
            <a:endParaRPr lang="en-US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1153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= one model plus configurable layers for context, control, and capability - almost all just files you commit.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and hooks keep the agent safe and predictable; CLAUDE.md and MCP keep it well-informed.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subagents, and plugins let you scale and share customizations across tasks and teammates.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disciplined explore-plan-implement-verify loop beats one-shot prompting on real work.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add a piece only to solve a real pain point, and feed lessons back into your config.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A7B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219</Slides>
  <Notes>219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219</vt:i4>
      </vt:variant>
    </vt:vector>
  </HeadingPairs>
  <TitlesOfParts>
    <vt:vector size="2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- Study Notes</dc:title>
  <dc:subject>PptxGenJS Presentation</dc:subject>
  <dc:creator>ElconLab · Nir Geier</dc:creator>
  <cp:lastModifiedBy>ElconLab · Nir Geier</cp:lastModifiedBy>
  <cp:revision>1</cp:revision>
  <dcterms:created xsi:type="dcterms:W3CDTF">2026-06-30T21:25:39Z</dcterms:created>
  <dcterms:modified xsi:type="dcterms:W3CDTF">2026-06-30T21:25:39Z</dcterms:modified>
</cp:coreProperties>
</file>